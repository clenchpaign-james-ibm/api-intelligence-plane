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1"/>
  </p:sldMasterIdLst>
  <p:notesMasterIdLst>
    <p:notesMasterId r:id="rId16"/>
  </p:notesMasterIdLst>
  <p:handoutMasterIdLst>
    <p:handoutMasterId r:id="rId17"/>
  </p:handoutMasterIdLst>
  <p:sldIdLst>
    <p:sldId id="499" r:id="rId2"/>
    <p:sldId id="404" r:id="rId3"/>
    <p:sldId id="2142532933" r:id="rId4"/>
    <p:sldId id="2142532934" r:id="rId5"/>
    <p:sldId id="2142532928" r:id="rId6"/>
    <p:sldId id="2142532935" r:id="rId7"/>
    <p:sldId id="2142532936" r:id="rId8"/>
    <p:sldId id="2142532937" r:id="rId9"/>
    <p:sldId id="2142532938" r:id="rId10"/>
    <p:sldId id="2142532939" r:id="rId11"/>
    <p:sldId id="2142532940" r:id="rId12"/>
    <p:sldId id="2142532943" r:id="rId13"/>
    <p:sldId id="2142532944" r:id="rId14"/>
    <p:sldId id="2142532874" r:id="rId15"/>
  </p:sldIdLst>
  <p:sldSz cx="24387175" cy="13716000"/>
  <p:notesSz cx="6858000" cy="9144000"/>
  <p:embeddedFontLst>
    <p:embeddedFont>
      <p:font typeface="IBM Plex Sans" panose="020B0503050203000203" pitchFamily="34" charset="0"/>
      <p:regular r:id="rId18"/>
      <p:bold r:id="rId19"/>
      <p:italic r:id="rId20"/>
      <p:boldItalic r:id="rId21"/>
    </p:embeddedFont>
    <p:embeddedFont>
      <p:font typeface="IBM Plex Sans ExtLt" panose="020B0303050203000203" pitchFamily="34" charset="0"/>
      <p:regular r:id="rId22"/>
      <p:italic r:id="rId23"/>
    </p:embeddedFont>
    <p:embeddedFont>
      <p:font typeface="IBM Plex Sans Light" panose="020B0403050203000203" pitchFamily="34" charset="0"/>
      <p:regular r:id="rId24"/>
      <p:italic r:id="rId25"/>
    </p:embeddedFont>
  </p:embeddedFont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84"/>
    <p:restoredTop sz="96327"/>
  </p:normalViewPr>
  <p:slideViewPr>
    <p:cSldViewPr snapToGrid="0" snapToObjects="1">
      <p:cViewPr varScale="1">
        <p:scale>
          <a:sx n="77" d="100"/>
          <a:sy n="77" d="100"/>
        </p:scale>
        <p:origin x="1120" y="224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52088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3E8F-1C8F-3DAD-618E-B9D71CEEC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8A1F2-7056-40BA-1EFC-90AC26FB9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E4D3F-FA23-FDC1-D4A5-FAA59DD6E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40534-AF2C-31EE-6C85-3D2D150DB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94E50-CD8C-EA08-69AA-0D2FFE4C4D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326268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D10D-85A5-E796-3340-5DDC520E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4F78C-4FF0-24F9-2F82-C5F2B868B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BA8B3-EC9E-9675-DCCF-DB8E85BE8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52950-6FD5-4F45-B462-E9B1C2461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358A-5D34-6DA1-9CAD-BB90C3C0BA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987645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F33E-1D36-A4BA-3137-F1DA1040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BA9FF-8211-334F-5C8C-A8DE3D5FA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59A73-0CA8-79E7-1F6D-5B67E77E9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35793-0C3B-A6F8-D4DC-6C4BEB15C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357B7-52D4-9969-A983-F6EADEBD63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417232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B1EE-3562-61A7-0C15-C34E7919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6AA2C-8494-39A9-F089-9942932A4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12462-0C91-471E-7B75-D0B492386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F9CC0-0402-5EBF-7A1C-08929E5ED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24AF2-6952-5C7A-E17E-4139AACEDF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971563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A306-4B6C-53E5-3E2A-D97D3D0C1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02215-FFF5-ADDB-765C-4EF8BE2AD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A143A-908B-B580-1699-D28AE72A8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6E9D-3E33-5C3E-CB49-6038C90FF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B280-667F-F899-8DE9-72747C1196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35790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BE339-BC05-3B5D-9B9B-FC9A922EE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9D03E-6159-00F3-B69B-ADDB1912C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D4153-457B-A9BD-9BA7-E4B33016B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6E404-7DDD-6259-8AEE-35C5DD891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146DA-360A-F15F-70E3-61AFBE6818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46771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BD13-74E8-C855-9FB4-254D8119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44533-5327-CA6F-4492-ECED54A1E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4BCCB-82F9-39FA-9755-EF69045CE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6AD41-5013-CDE2-D359-2158CCF33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32876-0A47-871D-DD44-4318DF9A7A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706134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2DBE1-5F7A-831A-7207-022A0DFC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64EF8-1BDF-83F4-0624-F333B605F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5673F-2D4A-F13A-7E91-984A95862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28D3F-0CF0-D96B-82E8-F19A8E868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50585-7580-0186-0916-6FF95CA075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332624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DA71-E842-A298-E6EF-C594BD4C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6EE1F-A115-11A1-5286-7B6557138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043B6-CE65-4AEB-B148-6D5A0511C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3BA19-15E8-3B90-C96A-5B501AA92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FA7FB-D36D-E02B-0363-4B34C222B7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683184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FA4C-A9EB-A507-26E0-FA0DE056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1610B-C8E3-5829-4095-6D1C8C39A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25D9C-43B4-D54A-7480-27EC80608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DE066-DC78-8A72-F030-925982CC3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48F47-4967-D6A8-B3B1-D87CA37B77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536456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17E1-A755-6E4B-C9E3-5F080A45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64C5C-4EAF-13B7-AE3A-B3C9349B7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061D6-18F5-E5B8-FE32-580C2A754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A5526-8CED-78E6-FBFB-71B043F5A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37749-0108-5E21-7722-0BAACF7517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83672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A14EC32-5EBA-F8A7-F54A-AF972463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/>
          <a:p>
            <a:r>
              <a:rPr lang="en-US" dirty="0"/>
              <a:t>API</a:t>
            </a:r>
            <a:br>
              <a:rPr lang="en-US" dirty="0"/>
            </a:br>
            <a:r>
              <a:rPr lang="en-US" dirty="0"/>
              <a:t>Intelligence</a:t>
            </a:r>
            <a:br>
              <a:rPr lang="en-US" dirty="0"/>
            </a:br>
            <a:r>
              <a:rPr lang="en-US" dirty="0"/>
              <a:t>Plane</a:t>
            </a:r>
            <a:br>
              <a:rPr lang="en-US" dirty="0"/>
            </a:br>
            <a:br>
              <a:rPr lang="en-US" dirty="0"/>
            </a:br>
            <a:r>
              <a:rPr lang="en-US" sz="3200" dirty="0"/>
              <a:t>Integration </a:t>
            </a:r>
            <a:r>
              <a:rPr lang="en-US" sz="3200" dirty="0" err="1"/>
              <a:t>Bobathon</a:t>
            </a:r>
            <a:r>
              <a:rPr lang="en-US" sz="3200" dirty="0"/>
              <a:t> Winner Idea (Mar 2026)</a:t>
            </a:r>
            <a:br>
              <a:rPr lang="en-US" sz="3200" dirty="0"/>
            </a:br>
            <a:br>
              <a:rPr lang="en-US" sz="2800" dirty="0"/>
            </a:br>
            <a:br>
              <a:rPr lang="en-US" sz="8800" dirty="0"/>
            </a:br>
            <a:br>
              <a:rPr lang="en-US" sz="7200" dirty="0"/>
            </a:b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6323B1C-D6B8-631E-F7B5-2402FA5F9A2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5324" r="25324"/>
          <a:stretch>
            <a:fillRect/>
          </a:stretch>
        </p:blipFill>
        <p:spPr>
          <a:prstGeom prst="rect">
            <a:avLst/>
          </a:prstGeom>
          <a:solidFill>
            <a:srgbClr val="E0E0E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2914D-C961-B182-8443-88A119D04C56}"/>
              </a:ext>
            </a:extLst>
          </p:cNvPr>
          <p:cNvSpPr txBox="1"/>
          <p:nvPr/>
        </p:nvSpPr>
        <p:spPr>
          <a:xfrm>
            <a:off x="1047404" y="1296785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6737087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C10D2E3-7073-AD37-7DC7-75B8EA83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  <a:ea typeface="IBM Plex Sans" pitchFamily="2" charset="0"/>
                <a:cs typeface="IBM Plex Sans" pitchFamily="2" charset="0"/>
              </a:rPr>
              <a:t>Overview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03724-6438-49C6-C8B2-78BC7460C96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185CAB7B-9C6B-1EA7-D008-04B544539439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3CF7160-23BD-7074-566F-9AEFEF6E9242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API </a:t>
            </a:r>
            <a:r>
              <a:rPr lang="en-US" sz="3200" strike="sngStrike" dirty="0"/>
              <a:t>Control</a:t>
            </a:r>
            <a:r>
              <a:rPr lang="en-US" sz="3200" dirty="0"/>
              <a:t> Intelligence Plane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AI-driven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D1C1D"/>
              </a:solidFill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Real-time findings and remediations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D1C1D"/>
              </a:solidFill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Proactive, Autonomous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Vendor-neutral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MCP – Agentic Interface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BA9F84C-1EA9-D365-B300-5B2B42671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15682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A985-8043-3240-BEC9-874119DD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17E7EF6C-F33A-CA6B-7B3B-DC657799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  <a:ea typeface="IBM Plex Sans" pitchFamily="2" charset="0"/>
                <a:cs typeface="IBM Plex Sans" pitchFamily="2" charset="0"/>
              </a:rPr>
              <a:t>Features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B91EF-1056-BD47-CB71-613D2001A3D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7F32804C-8E42-9069-6155-3C99320EDEBA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0B662F-813C-48ED-325C-DC5EAF140247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Autonomous API Discovery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D1C1D"/>
              </a:solidFill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Predictive Health Management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D1C1D"/>
              </a:solidFill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Security Scanning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Real-time Performance Optimization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Compliance Scanning and Reports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Natural Language Interface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MCP Interface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66D16B3-AC42-2A81-3FAD-47CFFC00D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03904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C1EC-93DA-40F6-06A1-35131EF0A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B16FD4A-2863-616D-548C-745EA8DE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  <a:ea typeface="IBM Plex Sans" pitchFamily="2" charset="0"/>
                <a:cs typeface="IBM Plex Sans" pitchFamily="2" charset="0"/>
              </a:rPr>
              <a:t>Architecture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EB822-65C0-3AD4-EE25-314C6F4C45D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181FE1F-3A4E-EE9C-B280-D93F957CF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F1CBCB-EF85-273B-BED7-60854DA13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383" y="2197518"/>
            <a:ext cx="19392408" cy="932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8587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0F06-C3B9-A4B8-CBC7-4315FD8C4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64E761D-9B1D-7FC6-DC70-A0A7DD00E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  <a:ea typeface="IBM Plex Sans" pitchFamily="2" charset="0"/>
                <a:cs typeface="IBM Plex Sans" pitchFamily="2" charset="0"/>
              </a:rPr>
              <a:t>Positioning in IBM API Connect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71F4D-5AC5-8E9B-AA94-CAFC38990DD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A72DA09-002C-33D7-0DCB-DD9ECF81A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F774FD-B8CD-4FFF-AEE9-A286EBB64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873" y="2582861"/>
            <a:ext cx="14671428" cy="961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0561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A1B9-8419-67E4-56AA-303313EA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18CEBB7A-F099-D111-39A1-29D72041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  <a:ea typeface="IBM Plex Sans" pitchFamily="2" charset="0"/>
                <a:cs typeface="IBM Plex Sans" pitchFamily="2" charset="0"/>
              </a:rPr>
              <a:t>Autonomous API Discovery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71AE1-BD29-3802-D442-AEEA5B54CC8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89BDD345-B81E-A671-F209-A93454A70015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D190929-BC06-9EC7-B59D-5D808E02E671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Vendor-neutral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Gateway Registration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API Discovery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Metrics Collection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Shadow API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Health Score</a:t>
            </a:r>
            <a:endParaRPr lang="en-US" sz="3200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A50D337-8947-CD9F-2CFF-2F4EE9801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8" name="Picture 4" descr="Why API Discovery Is the First Step to Securing AI — API Security">
            <a:extLst>
              <a:ext uri="{FF2B5EF4-FFF2-40B4-BE49-F238E27FC236}">
                <a16:creationId xmlns:a16="http://schemas.microsoft.com/office/drawing/2014/main" id="{55C98900-07F5-742C-DC95-75EB2AC52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776" y="2863819"/>
            <a:ext cx="5178797" cy="346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3360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C198-49FF-B47C-C8CD-292176DC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CD94D0E-B79F-3883-FBE0-12594381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  <a:ea typeface="IBM Plex Sans" pitchFamily="2" charset="0"/>
                <a:cs typeface="IBM Plex Sans" pitchFamily="2" charset="0"/>
              </a:rPr>
              <a:t>Predictive Health Management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24902-9F86-2E50-3E72-9759F6219A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F7B82466-1B60-338C-EDDD-9E3F12F2F3F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3BA863E-4367-2758-118B-ACE8F2AF80B2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24 – 48 Hours Window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Failure, Degradation, Security, Capacity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Rule Based + AI Powered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DCCE3D1-E9FC-DB1F-5C4D-30E2AD7D5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50" name="Picture 2" descr="Predictive Analytics in Healthcare: Leveraging Insights with Management  Software in India | ConnectAI">
            <a:extLst>
              <a:ext uri="{FF2B5EF4-FFF2-40B4-BE49-F238E27FC236}">
                <a16:creationId xmlns:a16="http://schemas.microsoft.com/office/drawing/2014/main" id="{202260CD-1390-7824-8208-7A603FEAA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3534" y="1728411"/>
            <a:ext cx="5731625" cy="573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54738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54202-9E2B-CCDE-C0F8-93CB500C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095FA1A6-599C-3895-9366-1CDA1D39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  <a:ea typeface="IBM Plex Sans" pitchFamily="2" charset="0"/>
                <a:cs typeface="IBM Plex Sans" pitchFamily="2" charset="0"/>
              </a:rPr>
              <a:t>Security Scanning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62460-C77A-7F03-A618-17DE5B27932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1BA5091B-93E6-B2E3-C8A7-4723FC1E8BE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4B7E0-AF46-4728-CD75-D71B29E817D7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Vulnerabilities Detection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Authentication, Authorization, Injection, Data Protection, Rate Limiting, TLS, CORS, Input Validation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Remediation - Applying policy to Gateway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/>
              <a:t>Rule Based + AI Powered</a:t>
            </a:r>
            <a:endParaRPr lang="en-US" sz="3200" kern="0" dirty="0">
              <a:latin typeface="+mn-lt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1BD5BDE-E4E0-99D2-388E-3641C08C8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076" name="Picture 4" descr="API Security Scanning | ImmuniWeb">
            <a:extLst>
              <a:ext uri="{FF2B5EF4-FFF2-40B4-BE49-F238E27FC236}">
                <a16:creationId xmlns:a16="http://schemas.microsoft.com/office/drawing/2014/main" id="{EB531698-466F-BE25-B744-FF7DAC049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2236" y="2953296"/>
            <a:ext cx="6563710" cy="328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74704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7135C-DB5F-F81E-8305-0A7AD3CC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DC2481FF-50E7-071B-1F06-B5249F150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</a:rPr>
              <a:t>Performance Optimization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0392E-5409-A361-DF48-0BD2A4CD15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85362870-3C4F-EB07-DB76-DF3B02F7E1BB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02FC995-246D-A2B0-2EA2-5AB4BEC46634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Caching, Rate Limiting, Compression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Remediation - Applying policy to Gateway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/>
              <a:t>Rule Based + AI Powered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6042126-8197-5F81-136C-9596740C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098" name="Picture 2" descr="10 Tips for Improving API Performance | Nordic APIs |">
            <a:extLst>
              <a:ext uri="{FF2B5EF4-FFF2-40B4-BE49-F238E27FC236}">
                <a16:creationId xmlns:a16="http://schemas.microsoft.com/office/drawing/2014/main" id="{7700F171-4D98-595B-FD47-60EDDF640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6461" y="2282335"/>
            <a:ext cx="6462020" cy="363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70331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3CDB-6EAC-6283-001E-9A837C2F7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246144-64FD-030A-7940-AF652D72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</a:rPr>
              <a:t>Compliance Scanning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1FDE7-7921-E05E-F1E0-983A43E741B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E2E24185-2632-A811-434A-DE0552FB7E0C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A3EBF7E-2DA5-E62F-04BF-33B96D6DBC52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Violations across regulatory standards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GDPR, HIPAA, SOC2, PCI_DSS, ISO_27001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/>
              <a:t>Rule Based + AI Powered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+mn-lt"/>
              </a:rPr>
              <a:t>Automatic Report Generation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6D60012-399C-14FC-55C7-39951DF73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122" name="Picture 2" descr="What Is API Compliance? How to Optimize Business Security">
            <a:extLst>
              <a:ext uri="{FF2B5EF4-FFF2-40B4-BE49-F238E27FC236}">
                <a16:creationId xmlns:a16="http://schemas.microsoft.com/office/drawing/2014/main" id="{9E12CB4B-D301-6B2D-5FBB-EDAB208AB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4658" y="2067949"/>
            <a:ext cx="5052550" cy="50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43925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CF7C-F489-39A5-21C7-F0290A29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F504FF5E-5004-1943-44A2-F841ACF47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</a:rPr>
              <a:t>Natural Language Interface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C160D-EF2B-9FB1-38E6-9B91014B66B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7FBB1AB5-608A-70BB-41DD-3976AEAC4210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1F32A1-AF01-C90F-EC53-A131B27EBF83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Intent Generation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OpenSearch query generation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Natural language response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Schema matching + Agentic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kern="0" dirty="0"/>
              <a:t>Context Preservation</a:t>
            </a:r>
            <a:endParaRPr lang="en-US" sz="3200" kern="0" dirty="0">
              <a:latin typeface="+mn-lt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EBACF22-8DBA-2976-3CAD-F70669615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146" name="Picture 2" descr="Natural language processing interface for seamless conversation with  virtual assistants | Premium AI-generated image">
            <a:extLst>
              <a:ext uri="{FF2B5EF4-FFF2-40B4-BE49-F238E27FC236}">
                <a16:creationId xmlns:a16="http://schemas.microsoft.com/office/drawing/2014/main" id="{D0BD4AFE-F837-6D2F-C0E0-2E7446132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6728" y="2403012"/>
            <a:ext cx="4382424" cy="438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44752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49AFE-8C73-B340-1B2B-DE0089A2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5AF9149-DC52-D4D7-E70C-47E6FC98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</a:rPr>
              <a:t>MCP Interface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18FB9-0826-2F53-6569-EC0245C797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F8E5730B-CEB5-D7A0-C7EC-CB7CA4FCFE6A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025AC1-C4C8-D62D-ECA0-7DB0A70B3FA8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API Endpoints as MCP Tools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For Agentic Clients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74933-E10A-EE13-DB8A-D080A4370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0AA0507F-86DF-DE51-BDB6-D80394492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864" y="2282335"/>
            <a:ext cx="7377468" cy="414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4157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A829-52BF-BE75-116B-CE4D6A19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F1E94E04-7A3D-A42C-6D61-021B1A4BC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571499"/>
            <a:ext cx="4941887" cy="4022725"/>
          </a:xfrm>
        </p:spPr>
        <p:txBody>
          <a:bodyPr/>
          <a:lstStyle/>
          <a:p>
            <a:r>
              <a:rPr lang="en-US" sz="3600" dirty="0">
                <a:latin typeface="IBM Plex Sans" pitchFamily="2" charset="0"/>
              </a:rPr>
              <a:t>Gaps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BA6C-E2C9-8CF1-FE8B-1A6C8C41A8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33A8FF0A-D8F7-F392-BE14-FFF3F0EB1980}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5D18630-9D48-0B41-2652-F005EEC43E90}"/>
              </a:ext>
            </a:extLst>
          </p:cNvPr>
          <p:cNvSpPr txBox="1">
            <a:spLocks/>
          </p:cNvSpPr>
          <p:nvPr/>
        </p:nvSpPr>
        <p:spPr>
          <a:xfrm>
            <a:off x="6667501" y="2282335"/>
            <a:ext cx="7318864" cy="787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116128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Full API Policies coverage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More API vendors support (IBM API Connect, Apigee, Kong, etc.)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Remediation for Predications and Compliance Violations</a:t>
            </a:r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r>
              <a:rPr lang="en-US" sz="3200" dirty="0"/>
              <a:t>Natural Language Interface to be completely Agentic</a:t>
            </a:r>
          </a:p>
          <a:p>
            <a:pPr defTabSz="1158240"/>
            <a:endParaRPr lang="en-US" sz="3200" dirty="0"/>
          </a:p>
          <a:p>
            <a:pPr marL="457200" indent="-457200" defTabSz="1158240">
              <a:buFont typeface="Arial" panose="020B0604020202020204" pitchFamily="34" charset="0"/>
              <a:buChar char="•"/>
            </a:pPr>
            <a:endParaRPr lang="en-US" sz="3200" kern="0" dirty="0">
              <a:latin typeface="+mn-lt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4A0DE91-223F-1B2C-CBB8-75C47B255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3443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00"/>
                </a:solidFill>
                <a:effectLst/>
              </a:rPr>
              <a:t>Demo</a:t>
            </a:r>
          </a:p>
        </p:txBody>
      </p:sp>
      <p:pic>
        <p:nvPicPr>
          <p:cNvPr id="13" name="Picture 12" descr="Photo showing three people viewing a whiteboard outside on sidewalk by building">
            <a:extLst>
              <a:ext uri="{FF2B5EF4-FFF2-40B4-BE49-F238E27FC236}">
                <a16:creationId xmlns:a16="http://schemas.microsoft.com/office/drawing/2014/main" id="{11A80CF5-B24C-9F82-0D15-0FDF122723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7500" y="571500"/>
            <a:ext cx="17145000" cy="1257935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505EDF-F36B-399E-8212-84205B49576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5456859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378</TotalTime>
  <Words>443</Words>
  <Application>Microsoft Macintosh PowerPoint</Application>
  <PresentationFormat>Custom</PresentationFormat>
  <Paragraphs>129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IBM Plex Sans</vt:lpstr>
      <vt:lpstr>IBM Plex Sans ExtLt</vt:lpstr>
      <vt:lpstr>Arial</vt:lpstr>
      <vt:lpstr>IBM Plex Sans Light</vt:lpstr>
      <vt:lpstr>IBM presentation template</vt:lpstr>
      <vt:lpstr>API Intelligence Plane  Integration Bobathon Winner Idea (Mar 2026)    </vt:lpstr>
      <vt:lpstr>Overview</vt:lpstr>
      <vt:lpstr>Features</vt:lpstr>
      <vt:lpstr>Architecture</vt:lpstr>
      <vt:lpstr>Positioning in IBM API Connect</vt:lpstr>
      <vt:lpstr>Autonomous API Discovery</vt:lpstr>
      <vt:lpstr>Predictive Health Management</vt:lpstr>
      <vt:lpstr>Security Scanning</vt:lpstr>
      <vt:lpstr>Performance Optimization</vt:lpstr>
      <vt:lpstr>Compliance Scanning</vt:lpstr>
      <vt:lpstr>Natural Language Interface</vt:lpstr>
      <vt:lpstr>MCP Interface</vt:lpstr>
      <vt:lpstr>Gaps</vt:lpstr>
      <vt:lpstr>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James, Clench Paign (IBM)</cp:lastModifiedBy>
  <cp:revision>49</cp:revision>
  <cp:lastPrinted>2019-04-25T15:14:05Z</cp:lastPrinted>
  <dcterms:created xsi:type="dcterms:W3CDTF">2024-10-31T11:02:10Z</dcterms:created>
  <dcterms:modified xsi:type="dcterms:W3CDTF">2026-04-24T10:11:37Z</dcterms:modified>
  <cp:category/>
</cp:coreProperties>
</file>